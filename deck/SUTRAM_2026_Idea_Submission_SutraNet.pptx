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74320"/>
            <a:ext cx="1005840" cy="1005840"/>
          </a:xfrm>
          <a:prstGeom prst="rect">
            <a:avLst/>
          </a:prstGeom>
        </p:spPr>
      </p:pic>
      <p:pic>
        <p:nvPicPr>
          <p:cNvPr id="4" name="Picture 3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237744"/>
            <a:ext cx="1060704" cy="1060704"/>
          </a:xfrm>
          <a:prstGeom prst="rect">
            <a:avLst/>
          </a:prstGeom>
        </p:spPr>
      </p:pic>
      <p:pic>
        <p:nvPicPr>
          <p:cNvPr id="5" name="Picture 4" descr="sutram_exact_full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1700784"/>
            <a:ext cx="4617720" cy="11702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93792" y="2889504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IDEA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24B"/>
                </a:solidFill>
                <a:latin typeface="Trebuchet MS"/>
              </a:rPr>
              <a:t>AI-POWERED CYBER INVESTIGATION  &amp;  DIGITAL FORENSICS HACKATHON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4151376"/>
            <a:ext cx="9601200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87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98448" y="4151376"/>
            <a:ext cx="91440" cy="512064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4151376"/>
            <a:ext cx="3474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B"/>
                </a:solidFill>
                <a:latin typeface="Trebuchet MS"/>
              </a:rPr>
              <a:t>Problem Statement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151376"/>
            <a:ext cx="5577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3C1CD"/>
                </a:solidFill>
                <a:latin typeface="Calibri"/>
              </a:rPr>
              <a:t>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8448" y="4773168"/>
            <a:ext cx="9601200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87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98448" y="4773168"/>
            <a:ext cx="91440" cy="512064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4773168"/>
            <a:ext cx="3474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B"/>
                </a:solidFill>
                <a:latin typeface="Trebuchet MS"/>
              </a:rPr>
              <a:t>Theme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773168"/>
            <a:ext cx="5577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400" b="1">
                <a:solidFill>
                  <a:srgbClr val="0F2042"/>
                </a:solidFill>
                <a:latin typeface="Segoe UI"/>
              </a:defRPr>
            </a:pPr>
            <a:r>
              <a:t>Cyber Forensics, Incident Response &amp; Artificial Intelligence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98448" y="5394960"/>
            <a:ext cx="9601200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587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98448" y="5394960"/>
            <a:ext cx="91440" cy="512064"/>
          </a:xfrm>
          <a:prstGeom prst="roundRect">
            <a:avLst>
              <a:gd name="adj" fmla="val 50000"/>
            </a:avLst>
          </a:prstGeom>
          <a:solidFill>
            <a:srgbClr val="8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5394960"/>
            <a:ext cx="34747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B"/>
                </a:solidFill>
                <a:latin typeface="Trebuchet MS"/>
              </a:rPr>
              <a:t>Team Name (registered on portal)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394960"/>
            <a:ext cx="557784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3C1CD"/>
                </a:solidFill>
                <a:latin typeface="Calibr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Team:  ______________________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6419088"/>
            <a:ext cx="4023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5D4E2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22" name="Picture 21" descr="sutram_exact_full_logo_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368" y="6455664"/>
            <a:ext cx="1417320" cy="3591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Picture 3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324B"/>
                </a:solidFill>
                <a:latin typeface="Trebuchet MS"/>
              </a:rPr>
              <a:t>TEAM DETAILS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11274552" cy="365760"/>
          </a:xfrm>
          <a:prstGeom prst="roundRect">
            <a:avLst>
              <a:gd name="adj" fmla="val 32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63040"/>
            <a:ext cx="10698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16324B"/>
                </a:solidFill>
                <a:latin typeface="Trebuchet MS"/>
              </a:rPr>
              <a:t>A team may have up to 4 members.  </a:t>
            </a:r>
            <a:r>
              <a:rPr sz="1100">
                <a:solidFill>
                  <a:srgbClr val="5A7183"/>
                </a:solidFill>
                <a:latin typeface="Calibri"/>
              </a:rPr>
              <a:t>Fill in only the cards you need and delete the 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5449824" cy="2039112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103120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2084832"/>
            <a:ext cx="4206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1E6F9F"/>
                </a:solidFill>
                <a:latin typeface="Trebuchet MS"/>
              </a:rPr>
              <a:t>TEAM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560320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Full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2752344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89503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Branch /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3081527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218687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3410711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54787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Phone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3739896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1928" y="1920240"/>
            <a:ext cx="5449824" cy="2039112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2103120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2084832"/>
            <a:ext cx="4206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5A7183"/>
                </a:solidFill>
                <a:latin typeface="Trebuchet MS"/>
              </a:rPr>
              <a:t>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2560320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Full Name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5008" y="2752344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4536" y="2889503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Branch / Year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5008" y="3081527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3218687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Email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3410711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74536" y="354787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Phone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65008" y="3739896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4215383"/>
            <a:ext cx="5449824" cy="2039112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4398264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8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3584" y="4379975"/>
            <a:ext cx="4206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5A7183"/>
                </a:solidFill>
                <a:latin typeface="Trebuchet MS"/>
              </a:rPr>
              <a:t>MEMBER</a:t>
            </a:r>
            <a:r>
              <a:rPr sz="1000" i="1">
                <a:solidFill>
                  <a:srgbClr val="8FA9BC"/>
                </a:solidFill>
                <a:latin typeface="Calibri"/>
              </a:rPr>
              <a:t>   (if applicable)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855464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Full Name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5047488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18464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Branch / Year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5376672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513831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Email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40280" y="5705855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58430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Phone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40280" y="6035040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281928" y="4215383"/>
            <a:ext cx="5449824" cy="2039112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56248" y="4398264"/>
            <a:ext cx="384048" cy="256032"/>
          </a:xfrm>
          <a:prstGeom prst="roundRect">
            <a:avLst>
              <a:gd name="adj" fmla="val 50000"/>
            </a:avLst>
          </a:prstGeom>
          <a:solidFill>
            <a:srgbClr val="8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68312" y="4379975"/>
            <a:ext cx="4206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5A7183"/>
                </a:solidFill>
                <a:latin typeface="Trebuchet MS"/>
              </a:rPr>
              <a:t>MEMBER</a:t>
            </a:r>
            <a:r>
              <a:rPr sz="1000" i="1">
                <a:solidFill>
                  <a:srgbClr val="8FA9BC"/>
                </a:solidFill>
                <a:latin typeface="Calibri"/>
              </a:rPr>
              <a:t>   (if applicable)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4536" y="4855464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Full 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65008" y="5047488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74536" y="518464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Branch / Year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65008" y="5376672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74536" y="5513831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Email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65008" y="5705855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74536" y="5843016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7183"/>
                </a:solidFill>
                <a:latin typeface="Calibri"/>
              </a:rPr>
              <a:t>Phone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65008" y="6035040"/>
            <a:ext cx="3364992" cy="12700"/>
          </a:xfrm>
          <a:prstGeom prst="rect">
            <a:avLst/>
          </a:prstGeom>
          <a:solidFill>
            <a:srgbClr val="CFD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Team:  ______________________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0" y="6419088"/>
            <a:ext cx="4023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5D4E2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56" name="Picture 55" descr="sutram_exact_full_logo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18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Picture 3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100" b="1">
                <a:solidFill>
                  <a:srgbClr val="0F2042"/>
                </a:solidFill>
                <a:latin typeface="Segoe UI"/>
              </a:defRPr>
            </a:pPr>
            <a:r>
              <a:t>SUTRA-NET: AIR-GAPPED AI FORENSIC TRIAGE &amp; ENCRYPTED C2 HUNTER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81328"/>
            <a:ext cx="11274552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34000"/>
            </a:srgbClr>
          </a:solidFill>
          <a:ln w="1587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45920"/>
            <a:ext cx="10634472" cy="4434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1. PROPOSED SOLUTION &amp; SYSTEM ARCHITECTURE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60">
                <a:solidFill>
                  <a:srgbClr val="0F2042"/>
                </a:solidFill>
                <a:latin typeface="Segoe UI"/>
              </a:rPr>
              <a:t>▸ Unified Offline DFIR Engine: </a:t>
            </a:r>
            <a:r>
              <a:rPr b="0" sz="960">
                <a:solidFill>
                  <a:srgbClr val="334155"/>
                </a:solidFill>
                <a:latin typeface="Segoe UI"/>
              </a:rPr>
              <a:t>An indigenous, 100% air-gapped forensic platform ingesting multi-gigabyte raw evidence dumps (.pcap, Windows .evtx, Linux syslogs, Android SQLite) without cloud dependency.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60">
                <a:solidFill>
                  <a:srgbClr val="0F2042"/>
                </a:solidFill>
                <a:latin typeface="Segoe UI"/>
              </a:rPr>
              <a:t>▸ Columnar High-Speed Core: </a:t>
            </a:r>
            <a:r>
              <a:rPr b="0" sz="960">
                <a:solidFill>
                  <a:srgbClr val="334155"/>
                </a:solidFill>
                <a:latin typeface="Segoe UI"/>
              </a:rPr>
              <a:t>Converts unstructured evidence into snappy-compressed Apache Parquet shards, enabling sub-second (0.8s) search and zero-copy analytical SQL via DuckDB (175x faster than raw grep/SQLite).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2. HOW IT ADDRESSES CRITICAL INVESTIGATIVE BOTTLENECKS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60">
                <a:solidFill>
                  <a:srgbClr val="0F2042"/>
                </a:solidFill>
                <a:latin typeface="Segoe UI"/>
              </a:rPr>
              <a:t>▸ Overcoming Encrypted C2 Blindness: </a:t>
            </a:r>
            <a:r>
              <a:rPr b="0" sz="960">
                <a:solidFill>
                  <a:srgbClr val="334155"/>
                </a:solidFill>
                <a:latin typeface="Segoe UI"/>
              </a:rPr>
              <a:t>Profiles TLS 1.3 &amp; DoH traffic via statistical packet dynamics (inter-arrival jitter, burst entropy, JA3/JA4 fingerprints) to expose malware beaconing without payload decryption.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60">
                <a:solidFill>
                  <a:srgbClr val="0F2042"/>
                </a:solidFill>
                <a:latin typeface="Segoe UI"/>
              </a:rPr>
              <a:t>▸ Eliminating Courtroom Admissibility Delays: </a:t>
            </a:r>
            <a:r>
              <a:rPr b="0" sz="960">
                <a:solidFill>
                  <a:srgbClr val="334155"/>
                </a:solidFill>
                <a:latin typeface="Segoe UI"/>
              </a:rPr>
              <a:t>Enforces strict cryptographic chain of custody (SHA-256/SHA-3 hashes) and auto-generates court-admissible Section 63 Bharatiya Sakshya Adhiniyam (BSA) compliance certificates.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3. INNOVATION &amp; INDIGENOUS UNIQUENESS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60">
                <a:solidFill>
                  <a:srgbClr val="0F2042"/>
                </a:solidFill>
                <a:latin typeface="Segoe UI"/>
              </a:rPr>
              <a:t>▸ Chitra-NLP &amp; Mule-Account Grapher: </a:t>
            </a:r>
            <a:r>
              <a:rPr b="0" sz="960">
                <a:solidFill>
                  <a:srgbClr val="334155"/>
                </a:solidFill>
                <a:latin typeface="Segoe UI"/>
              </a:rPr>
              <a:t>Tailored for Indian ground realities: parses Hinglish extortion chats, extracts UPI VPAs (@ybl, @okaxis) &amp; phone numbers, plotting a Temporal Knowledge Graph of fraud syndicates.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60">
                <a:solidFill>
                  <a:srgbClr val="0F2042"/>
                </a:solidFill>
                <a:latin typeface="Segoe UI"/>
              </a:rPr>
              <a:t>▸ Atmanirbhar Sovereign Security: </a:t>
            </a:r>
            <a:r>
              <a:rPr b="0" sz="960">
                <a:solidFill>
                  <a:srgbClr val="334155"/>
                </a:solidFill>
                <a:latin typeface="Segoe UI"/>
              </a:rPr>
              <a:t>Runs entirely on standard 8-16GB RAM lab workstations with zero recurring SaaS licensing, ensuring sensitive national evidence stays on sovereign premises.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Team:  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6419088"/>
            <a:ext cx="4023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5D4E2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5" name="Picture 14" descr="sutram_exact_full_logo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Picture 3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100" b="1">
                <a:solidFill>
                  <a:srgbClr val="0F2042"/>
                </a:solidFill>
                <a:latin typeface="Segoe UI"/>
              </a:defRPr>
            </a:pPr>
            <a:r>
              <a:t>TECHNICAL APPROACH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81328"/>
            <a:ext cx="11274552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34000"/>
            </a:srgbClr>
          </a:solidFill>
          <a:ln w="1587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45920"/>
            <a:ext cx="10634472" cy="4434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1. FOUR-STAGE FORENSIC PIPELINE (METHODOLOGY)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Stage 1 — Ingestion &amp; Cryptographic Acquisition: </a:t>
            </a:r>
            <a:r>
              <a:rPr b="0" sz="940">
                <a:solidFill>
                  <a:srgbClr val="334155"/>
                </a:solidFill>
                <a:latin typeface="Segoe UI"/>
              </a:rPr>
              <a:t>Streams raw .pcap, .evtx, syslogs, and Android SQLite dumps (msgstore.db); computes instant SHA-256 &amp; SHA-3 hashes logged to immutable audit ledger.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Stage 2 — High-Speed Columnar Parquet Indexing: </a:t>
            </a:r>
            <a:r>
              <a:rPr b="0" sz="940">
                <a:solidFill>
                  <a:srgbClr val="334155"/>
                </a:solidFill>
                <a:latin typeface="Segoe UI"/>
              </a:rPr>
              <a:t>Serializes normalized logs into snappy-compressed Apache Parquet shards with inverted indexes on IPs, JA3 hashes &amp; UPI VPAs; powers zero-copy DuckDB queries (0.8s on 10GB).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Stage 3A — NetSpectra-ML (Encrypted C2 Profiling): </a:t>
            </a:r>
            <a:r>
              <a:rPr b="0" sz="940">
                <a:solidFill>
                  <a:srgbClr val="334155"/>
                </a:solidFill>
                <a:latin typeface="Segoe UI"/>
              </a:rPr>
              <a:t>Passive flow analysis (inter-arrival jitter, burst entropy, JA3/JA4 fingerprints); Isolation Forest &amp; XGBoost flag Cobalt Strike/Sliver beacons without decryption (MITRE T1071/T1573).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Stage 3B — Chitra-NLP &amp; Fraud Knowledge Graph: </a:t>
            </a:r>
            <a:r>
              <a:rPr b="0" sz="940">
                <a:solidFill>
                  <a:srgbClr val="334155"/>
                </a:solidFill>
                <a:latin typeface="Segoe UI"/>
              </a:rPr>
              <a:t>Character n-gram TF-IDF detects Hinglish extortion scripts; regex extracts UPI VPAs &amp; phone numbers; NetworkX constructs temporal mule-account syndicates.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Stage 4 — Sakshya-Vault &amp; Judicial Reporting: </a:t>
            </a:r>
            <a:r>
              <a:rPr b="0" sz="940">
                <a:solidFill>
                  <a:srgbClr val="334155"/>
                </a:solidFill>
                <a:latin typeface="Segoe UI"/>
              </a:rPr>
              <a:t>Interactive kill-chain dashboard (FastAPI + Cytoscape.js); 1-click generation of court-admissible, signed Bharatiya Sakshya Adhiniyam (BSA) Section 63 compliance PDF certificates.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2. TECHNOLOGY STACK &amp; HARDWARE SPECIFICATIONS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Languages &amp; Parsers: </a:t>
            </a:r>
            <a:r>
              <a:rPr b="0" sz="940">
                <a:solidFill>
                  <a:srgbClr val="334155"/>
                </a:solidFill>
                <a:latin typeface="Segoe UI"/>
              </a:rPr>
              <a:t>Python 3.12+, C++ (libpcap stream ingestion), nfstream, Scapy, python-evtx, SQLite3.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Storage &amp; Query Engine: </a:t>
            </a:r>
            <a:r>
              <a:rPr b="0" sz="940">
                <a:solidFill>
                  <a:srgbClr val="334155"/>
                </a:solidFill>
                <a:latin typeface="Segoe UI"/>
              </a:rPr>
              <a:t>Apache Parquet (PyArrow columnar format), DuckDB (zero-copy SQL), in-memory Inverted Index.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AI Models &amp; Graph Analytics: </a:t>
            </a:r>
            <a:r>
              <a:rPr b="0" sz="940">
                <a:solidFill>
                  <a:srgbClr val="334155"/>
                </a:solidFill>
                <a:latin typeface="Segoe UI"/>
              </a:rPr>
              <a:t>Scikit-Learn (Isolation Forest, TF-IDF), XGBoost classifier, NetworkX temporal graph builder.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Hardware &amp; Air-Gapped Deploy: </a:t>
            </a:r>
            <a:r>
              <a:rPr b="0" sz="940">
                <a:solidFill>
                  <a:srgbClr val="334155"/>
                </a:solidFill>
                <a:latin typeface="Segoe UI"/>
              </a:rPr>
              <a:t>Standard 8–16GB RAM quad-core PC/laptop; 100% offline &amp; air-gapped (zero cloud GPU/SaaS required).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Team:  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6419088"/>
            <a:ext cx="4023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5D4E2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5" name="Picture 14" descr="sutram_exact_full_logo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Picture 3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100" b="1">
                <a:solidFill>
                  <a:srgbClr val="0F2042"/>
                </a:solidFill>
                <a:latin typeface="Segoe UI"/>
              </a:defRPr>
            </a:pPr>
            <a:r>
              <a:t>FEASIBILITY AND VIABILITY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81328"/>
            <a:ext cx="11274552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34000"/>
            </a:srgbClr>
          </a:solidFill>
          <a:ln w="1587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45920"/>
            <a:ext cx="10634472" cy="4434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1. THREE PILLARS OF FEASIBILITY &amp; VIABILITY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Technical Feasibility: </a:t>
            </a:r>
            <a:r>
              <a:rPr b="0" sz="940">
                <a:solidFill>
                  <a:srgbClr val="334155"/>
                </a:solidFill>
                <a:latin typeface="Segoe UI"/>
              </a:rPr>
              <a:t>Proven columnar Apache Parquet + PyArrow architecture achieves 80% disk compression and &gt;100x query speedup. Lightweight statistical ML runs deterministically on standard CPUs in seconds.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Operational &amp; LEA Viability: </a:t>
            </a:r>
            <a:r>
              <a:rPr b="0" sz="940">
                <a:solidFill>
                  <a:srgbClr val="334155"/>
                </a:solidFill>
                <a:latin typeface="Segoe UI"/>
              </a:rPr>
              <a:t>100% offline, air-gapped operation with zero recurring licensing costs. Runs on existing district police station hardware (8-16GB RAM) without specialized GPU clusters or cloud dependencies.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Judicial &amp; Statutory Viability: </a:t>
            </a:r>
            <a:r>
              <a:rPr b="0" sz="940">
                <a:solidFill>
                  <a:srgbClr val="334155"/>
                </a:solidFill>
                <a:latin typeface="Segoe UI"/>
              </a:rPr>
              <a:t>Engineered specifically to satisfy Section 63 of Bharatiya Sakshya Adhiniyam (BSA), 2023, providing verifiable SHA-256/SHA-3 hash audits and tamper-proof chain of custody.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2. RISK MITIGATION MATRIX (CHALLENGES &amp; STRATEGIES)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Challenge 1 — TLS 1.3 Payload Encryption: </a:t>
            </a:r>
            <a:r>
              <a:rPr b="0" sz="940">
                <a:solidFill>
                  <a:srgbClr val="334155"/>
                </a:solidFill>
                <a:latin typeface="Segoe UI"/>
              </a:rPr>
              <a:t>Mitigated by multi-signal behavioral flow profiling (inter-arrival jitter, burst entropy, JA3/JA4 fingerprints) correlated with host EVTX logs without decrypting payload.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Challenge 2 — Terabyte Ingestion Lag &amp; RAM Spikes: </a:t>
            </a:r>
            <a:r>
              <a:rPr b="0" sz="940">
                <a:solidFill>
                  <a:srgbClr val="334155"/>
                </a:solidFill>
                <a:latin typeface="Segoe UI"/>
              </a:rPr>
              <a:t>Mitigated via chunked stream processing (256MB micro-batches) through PyArrow directly into compressed Parquet shards with zero-copy DuckDB execution (0.8s on 10GB).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Challenge 3 — Slang Drift in Hinglish Cyber Fraud: </a:t>
            </a:r>
            <a:r>
              <a:rPr b="0" sz="940">
                <a:solidFill>
                  <a:srgbClr val="334155"/>
                </a:solidFill>
                <a:latin typeface="Segoe UI"/>
              </a:rPr>
              <a:t>Mitigated by character n-gram TF-IDF vectorization paired with a modular, hot-reloadable regex lexicon for Indian UPI handles (@okaxis, @paytm) and banking SMS formats.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Challenge 4 — Defense "Black-Box" Challenges in Court: </a:t>
            </a:r>
            <a:r>
              <a:rPr b="0" sz="940">
                <a:solidFill>
                  <a:srgbClr val="334155"/>
                </a:solidFill>
                <a:latin typeface="Segoe UI"/>
              </a:rPr>
              <a:t>Mitigated by read-only evidence mounting + Explainable AI (XAI) mapping every alert to exact packet numbers, timestamps, and deterministic audit trails in BSA Sec. 63 certificates.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Team:  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6419088"/>
            <a:ext cx="4023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5D4E2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5" name="Picture 14" descr="sutram_exact_full_logo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Picture 3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100" b="1">
                <a:solidFill>
                  <a:srgbClr val="0F2042"/>
                </a:solidFill>
                <a:latin typeface="Segoe UI"/>
              </a:defRPr>
            </a:pPr>
            <a:r>
              <a:t>IMPACT AND MULTI-DIMENSIONAL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81328"/>
            <a:ext cx="11274552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34000"/>
            </a:srgbClr>
          </a:solidFill>
          <a:ln w="1587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45920"/>
            <a:ext cx="10634472" cy="4434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1. POTENTIAL IMPACT ON TARGET AUDIENCE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Target Law Enforcement Stakeholders: </a:t>
            </a:r>
            <a:r>
              <a:rPr b="0" sz="940">
                <a:solidFill>
                  <a:srgbClr val="334155"/>
                </a:solidFill>
                <a:latin typeface="Segoe UI"/>
              </a:rPr>
              <a:t>State &amp; Central Forensic Science Labs (CFSL/FSLs), CERT-In, State Police Cyber Crime Cells (I4C), NCIIPC, and national security SOCs.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90% Faster Case Triage: </a:t>
            </a:r>
            <a:r>
              <a:rPr b="0" sz="940">
                <a:solidFill>
                  <a:srgbClr val="334155"/>
                </a:solidFill>
                <a:latin typeface="Segoe UI"/>
              </a:rPr>
              <a:t>Reduces initial evidence correlation time on multi-gigabyte seizures from 3–5 days of manual inspection down to under 10 minutes.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175x Query Acceleration: </a:t>
            </a:r>
            <a:r>
              <a:rPr b="0" sz="940">
                <a:solidFill>
                  <a:srgbClr val="334155"/>
                </a:solidFill>
                <a:latin typeface="Segoe UI"/>
              </a:rPr>
              <a:t>Searches 10GB+ of heterogeneous logs in 0.8 seconds (compared to 140+ seconds with raw grep/JSON scanning).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Force Multiplier for Frontline Officers: </a:t>
            </a:r>
            <a:r>
              <a:rPr b="0" sz="940">
                <a:solidFill>
                  <a:srgbClr val="334155"/>
                </a:solidFill>
                <a:latin typeface="Segoe UI"/>
              </a:rPr>
              <a:t>Automates complex packet math and MITRE ATT&amp;CK kill-chain mapping, enabling junior officers to conduct senior-grade forensic triage.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2. FOUR PILLARS OF MULTI-DIMENSIONAL BENEFITS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Social &amp; Judicial Justice: </a:t>
            </a:r>
            <a:r>
              <a:rPr b="0" sz="940">
                <a:solidFill>
                  <a:srgbClr val="334155"/>
                </a:solidFill>
                <a:latin typeface="Segoe UI"/>
              </a:rPr>
              <a:t>Traces UPI mule networks during the critical "Golden Hour" to freeze defrauded citizen funds; eliminates technical acquittals via automated BSA Sec. 63 legal certificates.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Economic &amp; Resource Efficiency: </a:t>
            </a:r>
            <a:r>
              <a:rPr b="0" sz="940">
                <a:solidFill>
                  <a:srgbClr val="334155"/>
                </a:solidFill>
                <a:latin typeface="Segoe UI"/>
              </a:rPr>
              <a:t>Saves state forensic labs ₹15–50 Lakhs per seat annually in proprietary licensing fees (Splunk, Cellebrite); maximizes existing police desktop hardware without costly upgrades.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Strategic Sovereignty (Atmanirbhar Bharat): </a:t>
            </a:r>
            <a:r>
              <a:rPr b="0" sz="940">
                <a:solidFill>
                  <a:srgbClr val="334155"/>
                </a:solidFill>
                <a:latin typeface="Segoe UI"/>
              </a:rPr>
              <a:t>100% indigenous, air-gapped architecture ensures sensitive national security telemetry and citizen personal data never leave sovereign Indian government premises.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40">
                <a:solidFill>
                  <a:srgbClr val="0F2042"/>
                </a:solidFill>
                <a:latin typeface="Segoe UI"/>
              </a:rPr>
              <a:t>▸ Environmental &amp; Compute Optimization: </a:t>
            </a:r>
            <a:r>
              <a:rPr b="0" sz="940">
                <a:solidFill>
                  <a:srgbClr val="334155"/>
                </a:solidFill>
                <a:latin typeface="Segoe UI"/>
              </a:rPr>
              <a:t>80% columnar Parquet compression and CPU-friendly statistical ML cut disk I/O, server thermal dissipation, and lab energy consumption by &gt;70%.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Team:  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6419088"/>
            <a:ext cx="4023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5D4E2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5" name="Picture 14" descr="sutram_exact_full_logo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Picture 3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defRPr sz="2100" b="1">
                <a:solidFill>
                  <a:srgbClr val="0F2042"/>
                </a:solidFill>
                <a:latin typeface="Segoe UI"/>
              </a:defRPr>
            </a:pPr>
            <a:r>
              <a:t>RESEARCH AND 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81328"/>
            <a:ext cx="11274552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34000"/>
            </a:srgbClr>
          </a:solidFill>
          <a:ln w="1587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645920"/>
            <a:ext cx="10634472" cy="4434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1. ENCRYPTED NETWORK FORENSICS &amp; ML THREAT TRIAGE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19">
                <a:solidFill>
                  <a:srgbClr val="0F2042"/>
                </a:solidFill>
                <a:latin typeface="Segoe UI"/>
              </a:rPr>
              <a:t>▸ Anderson &amp; McGrew (2017): </a:t>
            </a:r>
            <a:r>
              <a:rPr b="0" sz="919">
                <a:solidFill>
                  <a:srgbClr val="334155"/>
                </a:solidFill>
                <a:latin typeface="Segoe UI"/>
              </a:rPr>
              <a:t>Machine Learning for Encrypted Malware Traffic Classification: Accounting for Noisy Labels and Non-Stationarity. Proceedings of ACM SIGKDD (doi:10.1145/3097983.3098163).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19">
                <a:solidFill>
                  <a:srgbClr val="0F2042"/>
                </a:solidFill>
                <a:latin typeface="Segoe UI"/>
              </a:rPr>
              <a:t>▸ Althouse, Smart &amp; Atkins: </a:t>
            </a:r>
            <a:r>
              <a:rPr b="0" sz="919">
                <a:solidFill>
                  <a:srgbClr val="334155"/>
                </a:solidFill>
                <a:latin typeface="Segoe UI"/>
              </a:rPr>
              <a:t>TLS Fingerprinting with JA3 and JA4+ for Threat Hunting. Salesforce Engineering &amp; FoxIO Technical Papers (github.com/salesforce/ja3 | github.com/FoxIO-LLC/ja4).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19">
                <a:solidFill>
                  <a:srgbClr val="0F2042"/>
                </a:solidFill>
                <a:latin typeface="Segoe UI"/>
              </a:rPr>
              <a:t>▸ Canadian Institute for Cybersecurity (UNB): </a:t>
            </a:r>
            <a:r>
              <a:rPr b="0" sz="919">
                <a:solidFill>
                  <a:srgbClr val="334155"/>
                </a:solidFill>
                <a:latin typeface="Segoe UI"/>
              </a:rPr>
              <a:t>CIC-IDS2017 &amp; CIC-Darknet2020 Encrypted Network Traffic Datasets for flow feature validation (unb.ca/cic/datasets).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2. HIGH-THROUGHPUT DATA ENGINEERING &amp; DFIR STANDARDS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19">
                <a:solidFill>
                  <a:srgbClr val="0F2042"/>
                </a:solidFill>
                <a:latin typeface="Segoe UI"/>
              </a:rPr>
              <a:t>▸ Apache Parquet &amp; Apache Arrow: </a:t>
            </a:r>
            <a:r>
              <a:rPr b="0" sz="919">
                <a:solidFill>
                  <a:srgbClr val="334155"/>
                </a:solidFill>
                <a:latin typeface="Segoe UI"/>
              </a:rPr>
              <a:t>Columnar In-Memory Analytics &amp; Snappy Compression Specifications (parquet.apache.org | arrow.apache.org).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19">
                <a:solidFill>
                  <a:srgbClr val="0F2042"/>
                </a:solidFill>
                <a:latin typeface="Segoe UI"/>
              </a:rPr>
              <a:t>▸ Raasveldt &amp; Mühleisen (VLDB): </a:t>
            </a:r>
            <a:r>
              <a:rPr b="0" sz="919">
                <a:solidFill>
                  <a:srgbClr val="334155"/>
                </a:solidFill>
                <a:latin typeface="Segoe UI"/>
              </a:rPr>
              <a:t>DuckDB: An Embeddable Analytical Database for zero-copy SQL analytics over columnar datasets.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19">
                <a:solidFill>
                  <a:srgbClr val="0F2042"/>
                </a:solidFill>
                <a:latin typeface="Segoe UI"/>
              </a:rPr>
              <a:t>▸ MITRE ATT&amp;CK® Matrix v15: </a:t>
            </a:r>
            <a:r>
              <a:rPr b="0" sz="919">
                <a:solidFill>
                  <a:srgbClr val="334155"/>
                </a:solidFill>
                <a:latin typeface="Segoe UI"/>
              </a:rPr>
              <a:t>Adversarial Tactics, Techniques, and Common Knowledge for Enterprise Threat Mapping (attack.mitre.org).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19">
                <a:solidFill>
                  <a:srgbClr val="0F2042"/>
                </a:solidFill>
                <a:latin typeface="Segoe UI"/>
              </a:rPr>
              <a:t>▸ ALEAPP Framework: </a:t>
            </a:r>
            <a:r>
              <a:rPr b="0" sz="919">
                <a:solidFill>
                  <a:srgbClr val="334155"/>
                </a:solidFill>
                <a:latin typeface="Segoe UI"/>
              </a:rPr>
              <a:t>Android Logs Events And Protobuf Parser for mobile digital forensic acquisition (github.com/abrignoni/ALEAPP).</a:t>
            </a:r>
          </a:p>
          <a:p>
            <a:pPr>
              <a:spcBef>
                <a:spcPts val="700"/>
              </a:spcBef>
              <a:spcAft>
                <a:spcPts val="300"/>
              </a:spcAft>
            </a:pPr>
            <a:r>
              <a:rPr b="1" sz="1150">
                <a:solidFill>
                  <a:srgbClr val="0E7490"/>
                </a:solidFill>
                <a:latin typeface="Segoe UI"/>
              </a:rPr>
              <a:t>3. INDIAN STATUTORY, LEGAL &amp; FORENSIC FRAMEWORKS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19">
                <a:solidFill>
                  <a:srgbClr val="0F2042"/>
                </a:solidFill>
                <a:latin typeface="Segoe UI"/>
              </a:rPr>
              <a:t>▸ Bharatiya Sakshya Adhiniyam (BSA), 2023 — Sec. 63: </a:t>
            </a:r>
            <a:r>
              <a:rPr b="0" sz="919">
                <a:solidFill>
                  <a:srgbClr val="334155"/>
                </a:solidFill>
                <a:latin typeface="Segoe UI"/>
              </a:rPr>
              <a:t>Statutory Admissibility of Electronic Records &amp; Legal Conditions for Digital Evidence Certification (Ministry of Law and Justice, Govt. of India).</a:t>
            </a:r>
          </a:p>
          <a:p>
            <a:pPr>
              <a:spcBef>
                <a:spcPts val="150"/>
              </a:spcBef>
              <a:spcAft>
                <a:spcPts val="350"/>
              </a:spcAft>
            </a:pPr>
            <a:r>
              <a:rPr b="1" sz="919">
                <a:solidFill>
                  <a:srgbClr val="0F2042"/>
                </a:solidFill>
                <a:latin typeface="Segoe UI"/>
              </a:rPr>
              <a:t>▸ MeitY / ISEA &amp; DFSS Guidelines: </a:t>
            </a:r>
            <a:r>
              <a:rPr b="0" sz="919">
                <a:solidFill>
                  <a:srgbClr val="334155"/>
                </a:solidFill>
                <a:latin typeface="Segoe UI"/>
              </a:rPr>
              <a:t>Standard Operating Procedures (SOPs) for Digital Evidence Collection, Preservation, and Cryptographic Chain of Custody (isea.gov.in).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Team:  ______________________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6419088"/>
            <a:ext cx="4023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5D4E2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15" name="Picture 14" descr="sutram_exact_full_logo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Picture 3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6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324B"/>
                </a:solidFill>
                <a:latin typeface="Trebuchet MS"/>
              </a:rPr>
              <a:t>IMPORTANT INSTRUCTIONS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6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11274552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55000"/>
            </a:srgbClr>
          </a:solidFill>
          <a:ln w="1587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5564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324B"/>
                </a:solidFill>
                <a:latin typeface="Trebuchet MS"/>
              </a:rPr>
              <a:t>Please ensure the pointers below are met while submitting the idea PPT.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2185416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7183"/>
                </a:solidFill>
                <a:latin typeface="Calibri"/>
              </a:rPr>
              <a:t>Keep the deck to a maximum of ten (10) slides, including the title slide.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249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697480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7183"/>
                </a:solidFill>
                <a:latin typeface="Calibri"/>
              </a:rPr>
              <a:t>Avoid paragraphs — present the idea in points, diagrams, infographics or pictures.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3697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3584" y="3209544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7183"/>
                </a:solidFill>
                <a:latin typeface="Calibri"/>
              </a:rPr>
              <a:t>Keep the explanation precise and easy to understand.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721607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7183"/>
                </a:solidFill>
                <a:latin typeface="Calibri"/>
              </a:rPr>
              <a:t>The idea should be unique and novel.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6110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4233672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7183"/>
                </a:solidFill>
                <a:latin typeface="Calibri"/>
              </a:rPr>
              <a:t>Use only this template, without changing the idea detail pointers on the previous slides.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7316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45736"/>
            <a:ext cx="9966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7183"/>
                </a:solidFill>
                <a:latin typeface="Calibri"/>
              </a:rPr>
              <a:t>Save the file as a PDF and upload that to the portal. PPT, Word or any other format will not be supported.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413248"/>
            <a:ext cx="10515600" cy="548640"/>
          </a:xfrm>
          <a:prstGeom prst="roundRect">
            <a:avLst>
              <a:gd name="adj" fmla="val 18000"/>
            </a:avLst>
          </a:prstGeom>
          <a:solidFill>
            <a:srgbClr val="F1F5F9">
              <a:alpha val="92000"/>
            </a:srgbClr>
          </a:solidFill>
          <a:ln w="15875">
            <a:solidFill>
              <a:srgbClr val="8FA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541324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6324B"/>
                </a:solidFill>
                <a:latin typeface="Calibri"/>
              </a:rPr>
              <a:t>Note  —  you may delete this instructions slide before uploading your idea to the portal.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Team:  ______________________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6419088"/>
            <a:ext cx="4023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5D4E2"/>
                </a:solidFill>
                <a:latin typeface="Calibri"/>
              </a:rPr>
              <a:t>Idea Submission  ·  Where Every Trace Connects</a:t>
            </a:r>
          </a:p>
        </p:txBody>
      </p:sp>
      <p:pic>
        <p:nvPicPr>
          <p:cNvPr id="26" name="Picture 25" descr="sutram_exact_full_logo_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2368" y="6455664"/>
            <a:ext cx="1417320" cy="35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